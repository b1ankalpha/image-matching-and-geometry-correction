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1379" r:id="rId2"/>
    <p:sldId id="1389" r:id="rId3"/>
    <p:sldId id="1391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8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156A44-8989-4D9F-A579-CCDFEFBBA66E}" type="datetimeFigureOut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DEC40B-FD6E-4189-972D-B3CF9F4A8B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648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>
            <a:extLst>
              <a:ext uri="{FF2B5EF4-FFF2-40B4-BE49-F238E27FC236}">
                <a16:creationId xmlns:a16="http://schemas.microsoft.com/office/drawing/2014/main" id="{08A69B99-141F-4386-82C1-59E4C9C937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备注占位符 2">
            <a:extLst>
              <a:ext uri="{FF2B5EF4-FFF2-40B4-BE49-F238E27FC236}">
                <a16:creationId xmlns:a16="http://schemas.microsoft.com/office/drawing/2014/main" id="{8033F972-3997-4008-8BA5-33A7E1719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9332" name="灯片编号占位符 3">
            <a:extLst>
              <a:ext uri="{FF2B5EF4-FFF2-40B4-BE49-F238E27FC236}">
                <a16:creationId xmlns:a16="http://schemas.microsoft.com/office/drawing/2014/main" id="{DEB8758F-2AA1-4A3B-A40A-A8DAE0E1B5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1B21E94-6229-485C-8EC8-C9BE1F15969A}" type="slidenum">
              <a:rPr lang="en-US" altLang="zh-CN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>
            <a:extLst>
              <a:ext uri="{FF2B5EF4-FFF2-40B4-BE49-F238E27FC236}">
                <a16:creationId xmlns:a16="http://schemas.microsoft.com/office/drawing/2014/main" id="{D3674B78-A497-45E1-BCEB-15F1ED5A29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备注占位符 2">
            <a:extLst>
              <a:ext uri="{FF2B5EF4-FFF2-40B4-BE49-F238E27FC236}">
                <a16:creationId xmlns:a16="http://schemas.microsoft.com/office/drawing/2014/main" id="{57D7FEAB-B42C-4F39-B573-78688658F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1380" name="灯片编号占位符 3">
            <a:extLst>
              <a:ext uri="{FF2B5EF4-FFF2-40B4-BE49-F238E27FC236}">
                <a16:creationId xmlns:a16="http://schemas.microsoft.com/office/drawing/2014/main" id="{65D156DE-0545-4F48-8D30-C77F11EEF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6343430-23B5-4304-A5A2-7FBD9848E8DA}" type="slidenum">
              <a:rPr lang="en-US" altLang="zh-CN"/>
              <a:pPr>
                <a:spcBef>
                  <a:spcPct val="0"/>
                </a:spcBef>
              </a:pPr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幻灯片图像占位符 1">
            <a:extLst>
              <a:ext uri="{FF2B5EF4-FFF2-40B4-BE49-F238E27FC236}">
                <a16:creationId xmlns:a16="http://schemas.microsoft.com/office/drawing/2014/main" id="{50E6E85E-C602-4492-9C67-6F05B1E0C0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备注占位符 2">
            <a:extLst>
              <a:ext uri="{FF2B5EF4-FFF2-40B4-BE49-F238E27FC236}">
                <a16:creationId xmlns:a16="http://schemas.microsoft.com/office/drawing/2014/main" id="{83A796CD-AA9C-4003-9CD5-7F9094763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428" name="灯片编号占位符 3">
            <a:extLst>
              <a:ext uri="{FF2B5EF4-FFF2-40B4-BE49-F238E27FC236}">
                <a16:creationId xmlns:a16="http://schemas.microsoft.com/office/drawing/2014/main" id="{21EC3DF7-2066-4ED3-847A-32123A2AA8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716E03B-7009-4153-A7F5-6EF231F70357}" type="slidenum">
              <a:rPr lang="en-US" altLang="zh-CN"/>
              <a:pPr>
                <a:spcBef>
                  <a:spcPct val="0"/>
                </a:spcBef>
              </a:pPr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5B30C4-9A52-4321-BA0A-F200A6C83A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E0C132E-EBFD-4BC7-BAA6-52A2E4D43E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931558-B82D-4B45-A0B9-D2B1F4556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086FD-056E-40BC-B7E3-2CD5E93E946D}" type="datetimeFigureOut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0419D5-6FDC-439B-BBCB-B476E214E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13C6FE-D992-4E20-9367-EAD0F73DE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69E53-2485-466F-A209-86AE756FF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705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0BA25C-4CF1-43C1-8337-6E22B3B08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403278-DF3F-4748-9F77-973C863F7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06B430-C744-431A-ABF4-41F51B0DF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086FD-056E-40BC-B7E3-2CD5E93E946D}" type="datetimeFigureOut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F25D28-F0F6-4233-AEE2-6C1484C25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3AB736-676B-4C84-A704-F58290701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69E53-2485-466F-A209-86AE756FF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820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25654E-A306-4940-A8B6-C3296AD70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7D3821-84D2-4637-9CD9-78318585B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6FDC5C-762C-481B-B236-521433BA4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086FD-056E-40BC-B7E3-2CD5E93E946D}" type="datetimeFigureOut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13853C-08E1-470A-BCA1-8545660EB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808DEB-00D6-4B7A-9F19-B9BD012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69E53-2485-466F-A209-86AE756FF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36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FAD7AB-5037-4A08-8446-A15B0A3D8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959C56-6173-4EE7-A8E2-5DEB20349E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F2130F-14F6-4FAF-989F-ACB2B343A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3E5F1A-49B2-4F4F-9F0C-FC6A7C547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086FD-056E-40BC-B7E3-2CD5E93E946D}" type="datetimeFigureOut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72D832-EB79-4A15-9C2A-30237B3CB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BE6C12-A4C9-451B-A7C4-BEC41D9F3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69E53-2485-466F-A209-86AE756FF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816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FE1C41-86CE-463A-909A-40463152D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781BAB-4FBA-4F07-A3E4-EAB8E3309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3014FC-1021-419A-9F81-B5E97BC0A1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1721A07-193F-431A-8A6A-05ED652F8A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C620899-252B-4BA7-A3E8-FD263D7B0C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DF93A65-500A-464B-8A17-3B0E0453E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086FD-056E-40BC-B7E3-2CD5E93E946D}" type="datetimeFigureOut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77ED54A-B78A-44C3-BD6B-7E37263D2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9E386CC-5317-4304-8B7F-5E8DFE369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69E53-2485-466F-A209-86AE756FF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55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7B6DB2-040D-43B2-A5C6-2413E5BA6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C3A7F42-3A22-4EBE-A98D-288E9473E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086FD-056E-40BC-B7E3-2CD5E93E946D}" type="datetimeFigureOut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5CEAD31-A5E1-43B9-967E-79C8E318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2BACF5-7113-48F2-AB55-EF4A56920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69E53-2485-466F-A209-86AE756FF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089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0F9DA9-B78B-49EF-9975-81DA5784A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086FD-056E-40BC-B7E3-2CD5E93E946D}" type="datetimeFigureOut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34B47B7-3F91-47EF-ABAE-AE7971990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76EEC1-A55A-45B4-827E-44E6113DE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69E53-2485-466F-A209-86AE756FF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949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523A9B-C462-4601-8EC2-FCD219F0B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4758C9-E4FE-4986-BCE2-34C4A8AC6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AB78BC-970F-401C-8551-ECBD5C149E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EED947-3D06-434C-961E-B3D8FF7C6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086FD-056E-40BC-B7E3-2CD5E93E946D}" type="datetimeFigureOut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E9A021-A94A-4F1F-9A49-DEEC3C389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2A3FF6-110F-4E90-B3C4-BB1FFF69C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69E53-2485-466F-A209-86AE756FF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900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9AC843-C546-40F3-9661-7F1EC4C35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3CA5F08-096C-4A0B-A2DD-F730886D7B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FF6E7D-AFBB-49B6-B564-5888B87DA7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F28498-71EB-4187-81BB-60B8E4BDD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086FD-056E-40BC-B7E3-2CD5E93E946D}" type="datetimeFigureOut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99D2A-1DCE-4F7F-86E8-301D14C63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813F14-59FE-4F5B-B16F-712795AFF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69E53-2485-466F-A209-86AE756FF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229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0038C6-335C-4332-94AE-A04EF874E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EF3AC8-6EE3-4A3B-A770-EEED17872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CBC176-477D-490B-BE84-C669B0FD4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086FD-056E-40BC-B7E3-2CD5E93E946D}" type="datetimeFigureOut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AFB0B8-1F9B-46A2-9B4C-0154B4B45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1A6083-14D7-4CA2-A884-CF41B257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69E53-2485-466F-A209-86AE756FF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9724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0C5AC12-7B85-4C62-AF5A-F1F76C7C4A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218186-E434-4313-B276-33D7ECB606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9810AC-A388-42C3-9162-5EBF9A5A7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086FD-056E-40BC-B7E3-2CD5E93E946D}" type="datetimeFigureOut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3B33A2-37FE-4A5F-919D-9FC56FD00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357128-5374-4480-9B07-609AAF660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69E53-2485-466F-A209-86AE756FF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622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01E7C2-70F1-438E-8AA5-65B156A58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CF95F1-956D-4916-A5AA-2E0682EB2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0C52BE-EEC5-463E-8365-1923FC4B87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086FD-056E-40BC-B7E3-2CD5E93E946D}" type="datetimeFigureOut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546ED1-0EA5-4B6C-8704-EBA1B7D25F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08C4E5-4785-4630-9935-0C5091E972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69E53-2485-466F-A209-86AE756FF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085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标题 1">
            <a:extLst>
              <a:ext uri="{FF2B5EF4-FFF2-40B4-BE49-F238E27FC236}">
                <a16:creationId xmlns:a16="http://schemas.microsoft.com/office/drawing/2014/main" id="{4CBF6059-CBAB-46BA-82DA-BDBEB1CAA1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微软雅黑" panose="020B0503020204020204" pitchFamily="34" charset="-122"/>
              </a:rPr>
              <a:t>HIS</a:t>
            </a:r>
            <a:r>
              <a:rPr lang="zh-CN" altLang="en-US">
                <a:ea typeface="微软雅黑" panose="020B0503020204020204" pitchFamily="34" charset="-122"/>
              </a:rPr>
              <a:t>变换融合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B75AF0E9-5BFC-4051-9B21-04828EBBA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9" y="1357313"/>
            <a:ext cx="7966075" cy="535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1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indent="457200">
              <a:spcBef>
                <a:spcPct val="1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1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  <a:defRPr sz="200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1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1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lvl="1" algn="just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彩色系统与人眼很强地感觉红、绿、蓝三原色的事实很好地匹配，但是该模型不能很好地适应实际上人解译的颜色。当人眼观测一个彩色物体时，往往用颜色、色调和饱和度来描述。</a:t>
            </a:r>
            <a:endParaRPr lang="en-US" altLang="zh-CN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just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HIS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模型可以在彩色图像中从携带的彩色信息（色调和饱和度）中消去强度分量的影响，该模型描述对人眼来说是自然的、直观的。</a:t>
            </a:r>
            <a:endParaRPr lang="en-US" altLang="zh-CN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just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颜色空间和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HIS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色度空间有着精确的转换关系。</a:t>
            </a:r>
            <a:endParaRPr lang="en-US" altLang="zh-CN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标题 1">
            <a:extLst>
              <a:ext uri="{FF2B5EF4-FFF2-40B4-BE49-F238E27FC236}">
                <a16:creationId xmlns:a16="http://schemas.microsoft.com/office/drawing/2014/main" id="{A12960B8-50A8-4D55-A933-9F0C5E1BCF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微软雅黑" panose="020B0503020204020204" pitchFamily="34" charset="-122"/>
              </a:rPr>
              <a:t>HIS</a:t>
            </a:r>
            <a:r>
              <a:rPr lang="zh-CN" altLang="en-US">
                <a:ea typeface="微软雅黑" panose="020B0503020204020204" pitchFamily="34" charset="-122"/>
              </a:rPr>
              <a:t>变换融合</a:t>
            </a:r>
          </a:p>
        </p:txBody>
      </p:sp>
      <p:pic>
        <p:nvPicPr>
          <p:cNvPr id="100355" name="Picture 8" descr="未命名">
            <a:extLst>
              <a:ext uri="{FF2B5EF4-FFF2-40B4-BE49-F238E27FC236}">
                <a16:creationId xmlns:a16="http://schemas.microsoft.com/office/drawing/2014/main" id="{612A6BDD-C32D-4AE8-8936-297201831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133600"/>
            <a:ext cx="3995738" cy="315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0356" name="对象 1">
            <a:extLst>
              <a:ext uri="{FF2B5EF4-FFF2-40B4-BE49-F238E27FC236}">
                <a16:creationId xmlns:a16="http://schemas.microsoft.com/office/drawing/2014/main" id="{F56836A1-36BD-43D4-95F4-6B8A4FFC82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7986757"/>
              </p:ext>
            </p:extLst>
          </p:nvPr>
        </p:nvGraphicFramePr>
        <p:xfrm>
          <a:off x="5956300" y="2352675"/>
          <a:ext cx="4176713" cy="278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09680" imgH="1790640" progId="Equation.DSMT4">
                  <p:embed/>
                </p:oleObj>
              </mc:Choice>
              <mc:Fallback>
                <p:oleObj name="Equation" r:id="rId4" imgW="2209680" imgH="1790640" progId="Equation.DSMT4">
                  <p:embed/>
                  <p:pic>
                    <p:nvPicPr>
                      <p:cNvPr id="100356" name="对象 1">
                        <a:extLst>
                          <a:ext uri="{FF2B5EF4-FFF2-40B4-BE49-F238E27FC236}">
                            <a16:creationId xmlns:a16="http://schemas.microsoft.com/office/drawing/2014/main" id="{F56836A1-36BD-43D4-95F4-6B8A4FFC82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352675"/>
                        <a:ext cx="4176713" cy="278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标题 1">
            <a:extLst>
              <a:ext uri="{FF2B5EF4-FFF2-40B4-BE49-F238E27FC236}">
                <a16:creationId xmlns:a16="http://schemas.microsoft.com/office/drawing/2014/main" id="{6A4A7EDE-8F79-4CAF-BFB5-D5A3A0CA5F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微软雅黑" panose="020B0503020204020204" pitchFamily="34" charset="-122"/>
              </a:rPr>
              <a:t>HIS</a:t>
            </a:r>
            <a:r>
              <a:rPr lang="zh-CN" altLang="en-US">
                <a:ea typeface="微软雅黑" panose="020B0503020204020204" pitchFamily="34" charset="-122"/>
              </a:rPr>
              <a:t>变换融合</a:t>
            </a:r>
          </a:p>
        </p:txBody>
      </p:sp>
      <p:sp>
        <p:nvSpPr>
          <p:cNvPr id="49" name="AutoShape 4">
            <a:extLst>
              <a:ext uri="{FF2B5EF4-FFF2-40B4-BE49-F238E27FC236}">
                <a16:creationId xmlns:a16="http://schemas.microsoft.com/office/drawing/2014/main" id="{134D76E2-F2FF-41BE-BF7F-6C7B7FDAA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1609726"/>
            <a:ext cx="2089150" cy="360363"/>
          </a:xfrm>
          <a:prstGeom prst="flowChartProcess">
            <a:avLst/>
          </a:prstGeom>
          <a:solidFill>
            <a:schemeClr val="accent1"/>
          </a:solidFill>
          <a:ln w="7938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000">
              <a:ea typeface="楷体" pitchFamily="49" charset="-122"/>
            </a:endParaRPr>
          </a:p>
        </p:txBody>
      </p:sp>
      <p:sp>
        <p:nvSpPr>
          <p:cNvPr id="50" name="Text Box 7">
            <a:extLst>
              <a:ext uri="{FF2B5EF4-FFF2-40B4-BE49-F238E27FC236}">
                <a16:creationId xmlns:a16="http://schemas.microsoft.com/office/drawing/2014/main" id="{03B75EE5-02D1-4949-86E3-440395595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3138" y="1573213"/>
            <a:ext cx="1439862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 sz="2000">
              <a:ea typeface="楷体" pitchFamily="49" charset="-122"/>
            </a:endParaRPr>
          </a:p>
        </p:txBody>
      </p:sp>
      <p:sp>
        <p:nvSpPr>
          <p:cNvPr id="51" name="Text Box 8">
            <a:extLst>
              <a:ext uri="{FF2B5EF4-FFF2-40B4-BE49-F238E27FC236}">
                <a16:creationId xmlns:a16="http://schemas.microsoft.com/office/drawing/2014/main" id="{57EB5A12-FE35-40CF-9F12-ADD01BD0C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8675" y="1573213"/>
            <a:ext cx="1728788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000">
                <a:ea typeface="楷体" pitchFamily="49" charset="-122"/>
              </a:rPr>
              <a:t>彩色合成影像</a:t>
            </a:r>
          </a:p>
        </p:txBody>
      </p:sp>
      <p:sp>
        <p:nvSpPr>
          <p:cNvPr id="52" name="AutoShape 13">
            <a:extLst>
              <a:ext uri="{FF2B5EF4-FFF2-40B4-BE49-F238E27FC236}">
                <a16:creationId xmlns:a16="http://schemas.microsoft.com/office/drawing/2014/main" id="{A31FC709-B069-42BB-8CA6-CDBFA3619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7475" y="1609726"/>
            <a:ext cx="2089150" cy="358775"/>
          </a:xfrm>
          <a:prstGeom prst="flowChartProcess">
            <a:avLst/>
          </a:prstGeom>
          <a:solidFill>
            <a:schemeClr val="accent1"/>
          </a:solidFill>
          <a:ln w="7938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000">
              <a:ea typeface="楷体" pitchFamily="49" charset="-122"/>
            </a:endParaRPr>
          </a:p>
        </p:txBody>
      </p:sp>
      <p:sp>
        <p:nvSpPr>
          <p:cNvPr id="53" name="Text Box 15">
            <a:extLst>
              <a:ext uri="{FF2B5EF4-FFF2-40B4-BE49-F238E27FC236}">
                <a16:creationId xmlns:a16="http://schemas.microsoft.com/office/drawing/2014/main" id="{518D1A39-58A5-488A-B2E1-8F2621B75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1789" y="1538288"/>
            <a:ext cx="1728787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000">
                <a:ea typeface="楷体" pitchFamily="49" charset="-122"/>
              </a:rPr>
              <a:t>全色波段</a:t>
            </a:r>
          </a:p>
        </p:txBody>
      </p:sp>
      <p:sp>
        <p:nvSpPr>
          <p:cNvPr id="54" name="Line 16">
            <a:extLst>
              <a:ext uri="{FF2B5EF4-FFF2-40B4-BE49-F238E27FC236}">
                <a16:creationId xmlns:a16="http://schemas.microsoft.com/office/drawing/2014/main" id="{3F3C107A-1B15-4DED-A347-934AABC8BD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5450" y="1970088"/>
            <a:ext cx="0" cy="290512"/>
          </a:xfrm>
          <a:prstGeom prst="line">
            <a:avLst/>
          </a:prstGeom>
          <a:noFill/>
          <a:ln w="7938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sz="2000">
              <a:ea typeface="楷体" pitchFamily="49" charset="-122"/>
            </a:endParaRPr>
          </a:p>
        </p:txBody>
      </p:sp>
      <p:sp>
        <p:nvSpPr>
          <p:cNvPr id="55" name="Text Box 17">
            <a:extLst>
              <a:ext uri="{FF2B5EF4-FFF2-40B4-BE49-F238E27FC236}">
                <a16:creationId xmlns:a16="http://schemas.microsoft.com/office/drawing/2014/main" id="{1F8F71DC-B7FF-4C5F-B089-E38A2BB54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4363" y="1897063"/>
            <a:ext cx="2089150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dirty="0">
                <a:ea typeface="楷体" pitchFamily="49" charset="-122"/>
              </a:rPr>
              <a:t>HSI</a:t>
            </a:r>
            <a:r>
              <a:rPr lang="zh-CN" altLang="en-US" sz="2000" dirty="0">
                <a:ea typeface="楷体" pitchFamily="49" charset="-122"/>
              </a:rPr>
              <a:t>变换</a:t>
            </a:r>
          </a:p>
        </p:txBody>
      </p:sp>
      <p:sp>
        <p:nvSpPr>
          <p:cNvPr id="56" name="Line 26">
            <a:extLst>
              <a:ext uri="{FF2B5EF4-FFF2-40B4-BE49-F238E27FC236}">
                <a16:creationId xmlns:a16="http://schemas.microsoft.com/office/drawing/2014/main" id="{578F0DBB-60EA-4361-9475-264BEBC829AC}"/>
              </a:ext>
            </a:extLst>
          </p:cNvPr>
          <p:cNvSpPr>
            <a:spLocks noChangeShapeType="1"/>
          </p:cNvSpPr>
          <p:nvPr/>
        </p:nvSpPr>
        <p:spPr bwMode="auto">
          <a:xfrm>
            <a:off x="7475538" y="2185988"/>
            <a:ext cx="0" cy="0"/>
          </a:xfrm>
          <a:prstGeom prst="line">
            <a:avLst/>
          </a:prstGeom>
          <a:noFill/>
          <a:ln w="7938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sz="2000">
              <a:ea typeface="楷体" pitchFamily="49" charset="-122"/>
            </a:endParaRPr>
          </a:p>
        </p:txBody>
      </p:sp>
      <p:sp>
        <p:nvSpPr>
          <p:cNvPr id="57" name="Line 27">
            <a:extLst>
              <a:ext uri="{FF2B5EF4-FFF2-40B4-BE49-F238E27FC236}">
                <a16:creationId xmlns:a16="http://schemas.microsoft.com/office/drawing/2014/main" id="{3A6C19C0-2607-45DD-ABE1-406C99D49FF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2650" y="3121025"/>
            <a:ext cx="863600" cy="0"/>
          </a:xfrm>
          <a:prstGeom prst="line">
            <a:avLst/>
          </a:prstGeom>
          <a:noFill/>
          <a:ln w="7938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sz="2000">
              <a:ea typeface="楷体" pitchFamily="49" charset="-122"/>
            </a:endParaRPr>
          </a:p>
        </p:txBody>
      </p:sp>
      <p:sp>
        <p:nvSpPr>
          <p:cNvPr id="59" name="Text Box 30">
            <a:extLst>
              <a:ext uri="{FF2B5EF4-FFF2-40B4-BE49-F238E27FC236}">
                <a16:creationId xmlns:a16="http://schemas.microsoft.com/office/drawing/2014/main" id="{9BD1A4D1-0117-48F1-AF58-27D522A06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2833688"/>
            <a:ext cx="1801812" cy="40005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000">
                <a:ea typeface="楷体" pitchFamily="49" charset="-122"/>
              </a:rPr>
              <a:t>拉伸</a:t>
            </a:r>
          </a:p>
        </p:txBody>
      </p:sp>
      <p:sp>
        <p:nvSpPr>
          <p:cNvPr id="60" name="Line 31">
            <a:extLst>
              <a:ext uri="{FF2B5EF4-FFF2-40B4-BE49-F238E27FC236}">
                <a16:creationId xmlns:a16="http://schemas.microsoft.com/office/drawing/2014/main" id="{A63CDEBD-E66C-4810-B549-251B3B501328}"/>
              </a:ext>
            </a:extLst>
          </p:cNvPr>
          <p:cNvSpPr>
            <a:spLocks noChangeShapeType="1"/>
          </p:cNvSpPr>
          <p:nvPr/>
        </p:nvSpPr>
        <p:spPr bwMode="auto">
          <a:xfrm>
            <a:off x="8266113" y="4059238"/>
            <a:ext cx="0" cy="0"/>
          </a:xfrm>
          <a:prstGeom prst="line">
            <a:avLst/>
          </a:prstGeom>
          <a:noFill/>
          <a:ln w="7938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sz="2000">
              <a:ea typeface="楷体" pitchFamily="49" charset="-122"/>
            </a:endParaRPr>
          </a:p>
        </p:txBody>
      </p:sp>
      <p:sp>
        <p:nvSpPr>
          <p:cNvPr id="61" name="Line 32">
            <a:extLst>
              <a:ext uri="{FF2B5EF4-FFF2-40B4-BE49-F238E27FC236}">
                <a16:creationId xmlns:a16="http://schemas.microsoft.com/office/drawing/2014/main" id="{69C70702-1569-41AB-BA43-9B0A5F369B4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75538" y="1970089"/>
            <a:ext cx="0" cy="935037"/>
          </a:xfrm>
          <a:prstGeom prst="line">
            <a:avLst/>
          </a:prstGeom>
          <a:noFill/>
          <a:ln w="7938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sz="2000">
              <a:ea typeface="楷体" pitchFamily="49" charset="-122"/>
            </a:endParaRPr>
          </a:p>
        </p:txBody>
      </p:sp>
      <p:sp>
        <p:nvSpPr>
          <p:cNvPr id="62" name="AutoShape 33">
            <a:extLst>
              <a:ext uri="{FF2B5EF4-FFF2-40B4-BE49-F238E27FC236}">
                <a16:creationId xmlns:a16="http://schemas.microsoft.com/office/drawing/2014/main" id="{4246DBA0-CE65-4255-B497-644C615D4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388" y="2257426"/>
            <a:ext cx="2089150" cy="360363"/>
          </a:xfrm>
          <a:prstGeom prst="flowChartProcess">
            <a:avLst/>
          </a:prstGeom>
          <a:solidFill>
            <a:schemeClr val="accent1"/>
          </a:solidFill>
          <a:ln w="7938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altLang="zh-CN" sz="2000">
                <a:ea typeface="楷体" pitchFamily="49" charset="-122"/>
              </a:rPr>
              <a:t>H</a:t>
            </a:r>
          </a:p>
        </p:txBody>
      </p:sp>
      <p:sp>
        <p:nvSpPr>
          <p:cNvPr id="63" name="AutoShape 35">
            <a:extLst>
              <a:ext uri="{FF2B5EF4-FFF2-40B4-BE49-F238E27FC236}">
                <a16:creationId xmlns:a16="http://schemas.microsoft.com/office/drawing/2014/main" id="{BE3120F0-EE91-49D4-AB4F-7A1E7EF14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0" y="2546351"/>
            <a:ext cx="2089150" cy="360363"/>
          </a:xfrm>
          <a:prstGeom prst="flowChartProcess">
            <a:avLst/>
          </a:prstGeom>
          <a:solidFill>
            <a:schemeClr val="accent1"/>
          </a:solidFill>
          <a:ln w="7938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altLang="zh-CN" sz="2000">
                <a:ea typeface="楷体" pitchFamily="49" charset="-122"/>
              </a:rPr>
              <a:t>S</a:t>
            </a:r>
          </a:p>
        </p:txBody>
      </p:sp>
      <p:sp>
        <p:nvSpPr>
          <p:cNvPr id="64" name="AutoShape 36">
            <a:extLst>
              <a:ext uri="{FF2B5EF4-FFF2-40B4-BE49-F238E27FC236}">
                <a16:creationId xmlns:a16="http://schemas.microsoft.com/office/drawing/2014/main" id="{1B6021FF-5894-41D2-A32C-7BC83F24F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500" y="2906713"/>
            <a:ext cx="2089150" cy="360362"/>
          </a:xfrm>
          <a:prstGeom prst="flowChartProcess">
            <a:avLst/>
          </a:prstGeom>
          <a:solidFill>
            <a:schemeClr val="accent1"/>
          </a:solidFill>
          <a:ln w="7938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altLang="zh-CN" sz="2000">
                <a:ea typeface="楷体" pitchFamily="49" charset="-122"/>
              </a:rPr>
              <a:t>I</a:t>
            </a:r>
          </a:p>
        </p:txBody>
      </p:sp>
      <p:sp>
        <p:nvSpPr>
          <p:cNvPr id="65" name="Line 37">
            <a:extLst>
              <a:ext uri="{FF2B5EF4-FFF2-40B4-BE49-F238E27FC236}">
                <a16:creationId xmlns:a16="http://schemas.microsoft.com/office/drawing/2014/main" id="{5235A8F8-A627-461C-8A4F-C00C3734FA8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75538" y="3265488"/>
            <a:ext cx="0" cy="360362"/>
          </a:xfrm>
          <a:prstGeom prst="line">
            <a:avLst/>
          </a:prstGeom>
          <a:noFill/>
          <a:ln w="7938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sz="2000">
              <a:ea typeface="楷体" pitchFamily="49" charset="-122"/>
            </a:endParaRPr>
          </a:p>
        </p:txBody>
      </p:sp>
      <p:sp>
        <p:nvSpPr>
          <p:cNvPr id="66" name="AutoShape 38">
            <a:extLst>
              <a:ext uri="{FF2B5EF4-FFF2-40B4-BE49-F238E27FC236}">
                <a16:creationId xmlns:a16="http://schemas.microsoft.com/office/drawing/2014/main" id="{DE2F9CC7-081C-4730-AEAA-736008973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3376" y="3625851"/>
            <a:ext cx="1584325" cy="360363"/>
          </a:xfrm>
          <a:prstGeom prst="flowChartProcess">
            <a:avLst/>
          </a:prstGeom>
          <a:solidFill>
            <a:schemeClr val="accent1"/>
          </a:solidFill>
          <a:ln w="7938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altLang="zh-CN" sz="2000">
                <a:ea typeface="楷体" pitchFamily="49" charset="-122"/>
              </a:rPr>
              <a:t>New PAN</a:t>
            </a:r>
          </a:p>
        </p:txBody>
      </p:sp>
      <p:sp>
        <p:nvSpPr>
          <p:cNvPr id="67" name="Line 40">
            <a:extLst>
              <a:ext uri="{FF2B5EF4-FFF2-40B4-BE49-F238E27FC236}">
                <a16:creationId xmlns:a16="http://schemas.microsoft.com/office/drawing/2014/main" id="{5B9A8C6B-69E2-4BC4-80BD-08FA5FD706A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1713" y="3265488"/>
            <a:ext cx="0" cy="576262"/>
          </a:xfrm>
          <a:prstGeom prst="line">
            <a:avLst/>
          </a:prstGeom>
          <a:noFill/>
          <a:ln w="7938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sz="2000">
              <a:ea typeface="楷体" pitchFamily="49" charset="-122"/>
            </a:endParaRPr>
          </a:p>
        </p:txBody>
      </p:sp>
      <p:sp>
        <p:nvSpPr>
          <p:cNvPr id="68" name="Line 41">
            <a:extLst>
              <a:ext uri="{FF2B5EF4-FFF2-40B4-BE49-F238E27FC236}">
                <a16:creationId xmlns:a16="http://schemas.microsoft.com/office/drawing/2014/main" id="{E22980D1-0FA9-431C-B3FE-376710A819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1714" y="3841750"/>
            <a:ext cx="358775" cy="0"/>
          </a:xfrm>
          <a:prstGeom prst="line">
            <a:avLst/>
          </a:prstGeom>
          <a:noFill/>
          <a:ln w="7938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sz="2000">
              <a:ea typeface="楷体" pitchFamily="49" charset="-122"/>
            </a:endParaRPr>
          </a:p>
        </p:txBody>
      </p:sp>
      <p:sp>
        <p:nvSpPr>
          <p:cNvPr id="69" name="AutoShape 42">
            <a:extLst>
              <a:ext uri="{FF2B5EF4-FFF2-40B4-BE49-F238E27FC236}">
                <a16:creationId xmlns:a16="http://schemas.microsoft.com/office/drawing/2014/main" id="{45A6965F-A25C-4E84-943B-3ACA0FEA3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0488" y="3625851"/>
            <a:ext cx="1223962" cy="360363"/>
          </a:xfrm>
          <a:prstGeom prst="flowChartProcess">
            <a:avLst/>
          </a:prstGeom>
          <a:solidFill>
            <a:schemeClr val="accent1"/>
          </a:solidFill>
          <a:ln w="7938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000">
              <a:ea typeface="楷体" pitchFamily="49" charset="-122"/>
            </a:endParaRPr>
          </a:p>
        </p:txBody>
      </p:sp>
      <p:sp>
        <p:nvSpPr>
          <p:cNvPr id="70" name="Text Box 43">
            <a:extLst>
              <a:ext uri="{FF2B5EF4-FFF2-40B4-BE49-F238E27FC236}">
                <a16:creationId xmlns:a16="http://schemas.microsoft.com/office/drawing/2014/main" id="{E2BE1467-E0B1-4493-8389-8A412FAFB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4589" y="3554413"/>
            <a:ext cx="1728787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000">
                <a:ea typeface="楷体" pitchFamily="49" charset="-122"/>
              </a:rPr>
              <a:t>替换</a:t>
            </a:r>
          </a:p>
        </p:txBody>
      </p:sp>
      <p:sp>
        <p:nvSpPr>
          <p:cNvPr id="71" name="Line 44">
            <a:extLst>
              <a:ext uri="{FF2B5EF4-FFF2-40B4-BE49-F238E27FC236}">
                <a16:creationId xmlns:a16="http://schemas.microsoft.com/office/drawing/2014/main" id="{71CCC071-8323-4441-82BE-AB9F585E07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96039" y="3841750"/>
            <a:ext cx="287337" cy="0"/>
          </a:xfrm>
          <a:prstGeom prst="line">
            <a:avLst/>
          </a:prstGeom>
          <a:noFill/>
          <a:ln w="7938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sz="2000">
              <a:ea typeface="楷体" pitchFamily="49" charset="-122"/>
            </a:endParaRPr>
          </a:p>
        </p:txBody>
      </p:sp>
      <p:sp>
        <p:nvSpPr>
          <p:cNvPr id="72" name="Line 45">
            <a:extLst>
              <a:ext uri="{FF2B5EF4-FFF2-40B4-BE49-F238E27FC236}">
                <a16:creationId xmlns:a16="http://schemas.microsoft.com/office/drawing/2014/main" id="{263E6B90-162B-4792-8519-F682C5530E15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9775" y="3986214"/>
            <a:ext cx="0" cy="287337"/>
          </a:xfrm>
          <a:prstGeom prst="line">
            <a:avLst/>
          </a:prstGeom>
          <a:noFill/>
          <a:ln w="7938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sz="2000">
              <a:ea typeface="楷体" pitchFamily="49" charset="-122"/>
            </a:endParaRPr>
          </a:p>
        </p:txBody>
      </p:sp>
      <p:sp>
        <p:nvSpPr>
          <p:cNvPr id="73" name="AutoShape 46">
            <a:extLst>
              <a:ext uri="{FF2B5EF4-FFF2-40B4-BE49-F238E27FC236}">
                <a16:creationId xmlns:a16="http://schemas.microsoft.com/office/drawing/2014/main" id="{DB96A6DA-3ACE-43B3-AE6B-93335D067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25" y="4273551"/>
            <a:ext cx="2089150" cy="360363"/>
          </a:xfrm>
          <a:prstGeom prst="flowChartProcess">
            <a:avLst/>
          </a:prstGeom>
          <a:solidFill>
            <a:schemeClr val="accent1"/>
          </a:solidFill>
          <a:ln w="7938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altLang="zh-CN" sz="2000">
                <a:ea typeface="楷体" pitchFamily="49" charset="-122"/>
              </a:rPr>
              <a:t>H</a:t>
            </a:r>
          </a:p>
        </p:txBody>
      </p:sp>
      <p:sp>
        <p:nvSpPr>
          <p:cNvPr id="74" name="AutoShape 47">
            <a:extLst>
              <a:ext uri="{FF2B5EF4-FFF2-40B4-BE49-F238E27FC236}">
                <a16:creationId xmlns:a16="http://schemas.microsoft.com/office/drawing/2014/main" id="{395EBD5F-00F8-477D-8A18-401516DB6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0488" y="4562476"/>
            <a:ext cx="2089150" cy="360363"/>
          </a:xfrm>
          <a:prstGeom prst="flowChartProcess">
            <a:avLst/>
          </a:prstGeom>
          <a:solidFill>
            <a:schemeClr val="accent1"/>
          </a:solidFill>
          <a:ln w="7938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altLang="zh-CN" sz="2000">
                <a:ea typeface="楷体" pitchFamily="49" charset="-122"/>
              </a:rPr>
              <a:t>S</a:t>
            </a:r>
          </a:p>
        </p:txBody>
      </p:sp>
      <p:sp>
        <p:nvSpPr>
          <p:cNvPr id="75" name="AutoShape 48">
            <a:extLst>
              <a:ext uri="{FF2B5EF4-FFF2-40B4-BE49-F238E27FC236}">
                <a16:creationId xmlns:a16="http://schemas.microsoft.com/office/drawing/2014/main" id="{072CA048-771F-443E-9503-B86EB695C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9413" y="4921251"/>
            <a:ext cx="2089150" cy="360363"/>
          </a:xfrm>
          <a:prstGeom prst="flowChartProcess">
            <a:avLst/>
          </a:prstGeom>
          <a:solidFill>
            <a:schemeClr val="accent1"/>
          </a:solidFill>
          <a:ln w="7938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altLang="zh-CN" sz="2000">
                <a:ea typeface="楷体" pitchFamily="49" charset="-122"/>
              </a:rPr>
              <a:t>New I</a:t>
            </a:r>
          </a:p>
        </p:txBody>
      </p:sp>
      <p:sp>
        <p:nvSpPr>
          <p:cNvPr id="76" name="AutoShape 50">
            <a:extLst>
              <a:ext uri="{FF2B5EF4-FFF2-40B4-BE49-F238E27FC236}">
                <a16:creationId xmlns:a16="http://schemas.microsoft.com/office/drawing/2014/main" id="{2C092632-FB69-48B2-9FC3-2F17E2196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463" y="5570539"/>
            <a:ext cx="2089150" cy="358775"/>
          </a:xfrm>
          <a:prstGeom prst="flowChartProcess">
            <a:avLst/>
          </a:prstGeom>
          <a:solidFill>
            <a:schemeClr val="accent1"/>
          </a:solidFill>
          <a:ln w="7938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000">
              <a:ea typeface="楷体" pitchFamily="49" charset="-122"/>
            </a:endParaRPr>
          </a:p>
        </p:txBody>
      </p:sp>
      <p:sp>
        <p:nvSpPr>
          <p:cNvPr id="77" name="Text Box 51">
            <a:extLst>
              <a:ext uri="{FF2B5EF4-FFF2-40B4-BE49-F238E27FC236}">
                <a16:creationId xmlns:a16="http://schemas.microsoft.com/office/drawing/2014/main" id="{993BF38D-6D77-4002-BBC0-243947D3F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4950" y="5534025"/>
            <a:ext cx="1728788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000">
                <a:ea typeface="楷体" pitchFamily="49" charset="-122"/>
              </a:rPr>
              <a:t>逆</a:t>
            </a:r>
            <a:r>
              <a:rPr lang="en-US" altLang="zh-CN" sz="2000">
                <a:ea typeface="楷体" pitchFamily="49" charset="-122"/>
              </a:rPr>
              <a:t>HSI</a:t>
            </a:r>
            <a:r>
              <a:rPr lang="zh-CN" altLang="en-US" sz="2000">
                <a:ea typeface="楷体" pitchFamily="49" charset="-122"/>
              </a:rPr>
              <a:t>变换</a:t>
            </a:r>
          </a:p>
        </p:txBody>
      </p:sp>
      <p:sp>
        <p:nvSpPr>
          <p:cNvPr id="78" name="Line 52">
            <a:extLst>
              <a:ext uri="{FF2B5EF4-FFF2-40B4-BE49-F238E27FC236}">
                <a16:creationId xmlns:a16="http://schemas.microsoft.com/office/drawing/2014/main" id="{A06C4A54-2CF5-451D-825F-5317E52EC917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5525" y="6146800"/>
            <a:ext cx="0" cy="0"/>
          </a:xfrm>
          <a:prstGeom prst="line">
            <a:avLst/>
          </a:prstGeom>
          <a:noFill/>
          <a:ln w="7938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sz="2000">
              <a:ea typeface="楷体" pitchFamily="49" charset="-122"/>
            </a:endParaRPr>
          </a:p>
        </p:txBody>
      </p:sp>
      <p:sp>
        <p:nvSpPr>
          <p:cNvPr id="79" name="Line 53">
            <a:extLst>
              <a:ext uri="{FF2B5EF4-FFF2-40B4-BE49-F238E27FC236}">
                <a16:creationId xmlns:a16="http://schemas.microsoft.com/office/drawing/2014/main" id="{E2A4D485-07CF-4358-AC9E-B4226BC64F0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8550" y="5283200"/>
            <a:ext cx="0" cy="287338"/>
          </a:xfrm>
          <a:prstGeom prst="line">
            <a:avLst/>
          </a:prstGeom>
          <a:noFill/>
          <a:ln w="7938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sz="2000">
              <a:ea typeface="楷体" pitchFamily="49" charset="-122"/>
            </a:endParaRPr>
          </a:p>
        </p:txBody>
      </p:sp>
      <p:sp>
        <p:nvSpPr>
          <p:cNvPr id="80" name="AutoShape 54">
            <a:extLst>
              <a:ext uri="{FF2B5EF4-FFF2-40B4-BE49-F238E27FC236}">
                <a16:creationId xmlns:a16="http://schemas.microsoft.com/office/drawing/2014/main" id="{F597C218-E619-46C3-8F56-205693BCD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463" y="6218239"/>
            <a:ext cx="2089150" cy="358775"/>
          </a:xfrm>
          <a:prstGeom prst="flowChartProcess">
            <a:avLst/>
          </a:prstGeom>
          <a:solidFill>
            <a:schemeClr val="accent1"/>
          </a:solidFill>
          <a:ln w="7938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000">
              <a:ea typeface="楷体" pitchFamily="49" charset="-122"/>
            </a:endParaRPr>
          </a:p>
        </p:txBody>
      </p:sp>
      <p:sp>
        <p:nvSpPr>
          <p:cNvPr id="81" name="Text Box 55">
            <a:extLst>
              <a:ext uri="{FF2B5EF4-FFF2-40B4-BE49-F238E27FC236}">
                <a16:creationId xmlns:a16="http://schemas.microsoft.com/office/drawing/2014/main" id="{3F3256E1-22F8-40E5-997B-E17772044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1775" y="6146800"/>
            <a:ext cx="1728788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000">
                <a:ea typeface="楷体" pitchFamily="49" charset="-122"/>
              </a:rPr>
              <a:t>融合影像</a:t>
            </a:r>
          </a:p>
        </p:txBody>
      </p:sp>
      <p:sp>
        <p:nvSpPr>
          <p:cNvPr id="82" name="Line 57">
            <a:extLst>
              <a:ext uri="{FF2B5EF4-FFF2-40B4-BE49-F238E27FC236}">
                <a16:creationId xmlns:a16="http://schemas.microsoft.com/office/drawing/2014/main" id="{D87FF03F-19C8-4819-99E0-A695F4E8805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8550" y="5930900"/>
            <a:ext cx="0" cy="287338"/>
          </a:xfrm>
          <a:prstGeom prst="line">
            <a:avLst/>
          </a:prstGeom>
          <a:noFill/>
          <a:ln w="7938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sz="2000">
              <a:ea typeface="楷体" pitchFamily="49" charset="-122"/>
            </a:endParaRPr>
          </a:p>
        </p:txBody>
      </p:sp>
      <p:sp>
        <p:nvSpPr>
          <p:cNvPr id="83" name="Oval 58">
            <a:extLst>
              <a:ext uri="{FF2B5EF4-FFF2-40B4-BE49-F238E27FC236}">
                <a16:creationId xmlns:a16="http://schemas.microsoft.com/office/drawing/2014/main" id="{623593C8-F151-43F1-94FC-45F777F3E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9176" y="1898650"/>
            <a:ext cx="2447925" cy="1511300"/>
          </a:xfrm>
          <a:prstGeom prst="ellipse">
            <a:avLst/>
          </a:prstGeom>
          <a:noFill/>
          <a:ln w="7938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000">
              <a:solidFill>
                <a:srgbClr val="FF0000"/>
              </a:solidFill>
              <a:ea typeface="楷体" pitchFamily="49" charset="-122"/>
            </a:endParaRPr>
          </a:p>
        </p:txBody>
      </p:sp>
      <p:sp>
        <p:nvSpPr>
          <p:cNvPr id="84" name="Text Box 59">
            <a:extLst>
              <a:ext uri="{FF2B5EF4-FFF2-40B4-BE49-F238E27FC236}">
                <a16:creationId xmlns:a16="http://schemas.microsoft.com/office/drawing/2014/main" id="{A02FE114-BA76-4D03-A091-A623FE09C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474913"/>
            <a:ext cx="825500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000" dirty="0">
                <a:solidFill>
                  <a:srgbClr val="FF0000"/>
                </a:solidFill>
                <a:ea typeface="楷体" pitchFamily="49" charset="-122"/>
              </a:rPr>
              <a:t>步骤</a:t>
            </a:r>
            <a:r>
              <a:rPr lang="en-US" altLang="zh-CN" sz="2000" dirty="0">
                <a:solidFill>
                  <a:srgbClr val="FF0000"/>
                </a:solidFill>
                <a:ea typeface="楷体" pitchFamily="49" charset="-122"/>
              </a:rPr>
              <a:t>1</a:t>
            </a:r>
          </a:p>
        </p:txBody>
      </p:sp>
      <p:sp>
        <p:nvSpPr>
          <p:cNvPr id="85" name="Oval 60">
            <a:extLst>
              <a:ext uri="{FF2B5EF4-FFF2-40B4-BE49-F238E27FC236}">
                <a16:creationId xmlns:a16="http://schemas.microsoft.com/office/drawing/2014/main" id="{DD1B6CD8-9C0E-44E1-9595-B3FEEBB9C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8188" y="2833688"/>
            <a:ext cx="4464050" cy="2305050"/>
          </a:xfrm>
          <a:prstGeom prst="ellipse">
            <a:avLst/>
          </a:prstGeom>
          <a:noFill/>
          <a:ln w="7938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000">
              <a:ea typeface="楷体" pitchFamily="49" charset="-122"/>
            </a:endParaRPr>
          </a:p>
        </p:txBody>
      </p:sp>
      <p:sp>
        <p:nvSpPr>
          <p:cNvPr id="86" name="Text Box 61">
            <a:extLst>
              <a:ext uri="{FF2B5EF4-FFF2-40B4-BE49-F238E27FC236}">
                <a16:creationId xmlns:a16="http://schemas.microsoft.com/office/drawing/2014/main" id="{792C697F-F2F3-491C-BBAD-DB74A141A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6838" y="3698875"/>
            <a:ext cx="1079500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000">
                <a:solidFill>
                  <a:srgbClr val="FF0000"/>
                </a:solidFill>
                <a:ea typeface="楷体" pitchFamily="49" charset="-122"/>
              </a:rPr>
              <a:t>步骤</a:t>
            </a:r>
            <a:r>
              <a:rPr lang="en-US" altLang="zh-CN" sz="2000">
                <a:solidFill>
                  <a:srgbClr val="FF0000"/>
                </a:solidFill>
                <a:ea typeface="楷体" pitchFamily="49" charset="-122"/>
              </a:rPr>
              <a:t>2</a:t>
            </a:r>
          </a:p>
        </p:txBody>
      </p:sp>
      <p:sp>
        <p:nvSpPr>
          <p:cNvPr id="87" name="Oval 62">
            <a:extLst>
              <a:ext uri="{FF2B5EF4-FFF2-40B4-BE49-F238E27FC236}">
                <a16:creationId xmlns:a16="http://schemas.microsoft.com/office/drawing/2014/main" id="{2E681956-A768-4B5F-9E76-B45A218D0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7688" y="5499100"/>
            <a:ext cx="2233612" cy="1079500"/>
          </a:xfrm>
          <a:prstGeom prst="ellipse">
            <a:avLst/>
          </a:prstGeom>
          <a:noFill/>
          <a:ln w="7938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000">
              <a:ea typeface="楷体" pitchFamily="49" charset="-122"/>
            </a:endParaRPr>
          </a:p>
        </p:txBody>
      </p:sp>
      <p:sp>
        <p:nvSpPr>
          <p:cNvPr id="88" name="Text Box 63">
            <a:extLst>
              <a:ext uri="{FF2B5EF4-FFF2-40B4-BE49-F238E27FC236}">
                <a16:creationId xmlns:a16="http://schemas.microsoft.com/office/drawing/2014/main" id="{4BFFC41F-FA1F-4DFA-8DD7-56A76E3A2C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9138" y="5857875"/>
            <a:ext cx="1511300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000" dirty="0">
                <a:solidFill>
                  <a:srgbClr val="FF0000"/>
                </a:solidFill>
                <a:ea typeface="楷体" pitchFamily="49" charset="-122"/>
              </a:rPr>
              <a:t>步骤</a:t>
            </a:r>
            <a:r>
              <a:rPr lang="en-US" altLang="zh-CN" sz="2000" dirty="0">
                <a:solidFill>
                  <a:srgbClr val="FF0000"/>
                </a:solidFill>
                <a:ea typeface="楷体" pitchFamily="49" charset="-122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84" grpId="0"/>
      <p:bldP spid="85" grpId="0" animBg="1"/>
      <p:bldP spid="86" grpId="0"/>
      <p:bldP spid="87" grpId="0" animBg="1"/>
      <p:bldP spid="88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148</Words>
  <Application>Microsoft Office PowerPoint</Application>
  <PresentationFormat>宽屏</PresentationFormat>
  <Paragraphs>26</Paragraphs>
  <Slides>3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等线</vt:lpstr>
      <vt:lpstr>等线 Light</vt:lpstr>
      <vt:lpstr>微软雅黑</vt:lpstr>
      <vt:lpstr>Arial</vt:lpstr>
      <vt:lpstr>Wingdings</vt:lpstr>
      <vt:lpstr>Office 主题​​</vt:lpstr>
      <vt:lpstr>MathType 7.0 Equation</vt:lpstr>
      <vt:lpstr>HIS变换融合</vt:lpstr>
      <vt:lpstr>HIS变换融合</vt:lpstr>
      <vt:lpstr>HIS变换融合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HIS变换融合</dc:title>
  <dc:creator>lenovo</dc:creator>
  <cp:lastModifiedBy>yuanxin ye</cp:lastModifiedBy>
  <cp:revision>3</cp:revision>
  <dcterms:created xsi:type="dcterms:W3CDTF">2020-11-17T01:51:50Z</dcterms:created>
  <dcterms:modified xsi:type="dcterms:W3CDTF">2023-11-09T01:57:32Z</dcterms:modified>
</cp:coreProperties>
</file>